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Medium"/>
      <p:regular r:id="rId201316"/>
    </p:embeddedFont>
    <p:embeddedFont>
      <p:font typeface="Heebo SemiBold"/>
      <p:regular r:id="rId201317"/>
    </p:embeddedFont>
    <p:embeddedFont>
      <p:font typeface="Heebo Bold"/>
      <p:regular r:id="rId201318"/>
    </p:embeddedFont>
    <p:embeddedFont>
      <p:font typeface="Montserrat SemiBold"/>
      <p:regular r:id="rId201319"/>
    </p:embeddedFont>
    <p:embeddedFont>
      <p:font typeface="Montserrat Medium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1.jpeg"/><Relationship Id="rId3" Type="http://schemas.openxmlformats.org/officeDocument/2006/relationships/image" Target="../media/image-4-1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2513902"/>
            <a:ext cx="7638859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SignVision AI</a:t>
            </a:r>
            <a:endParaRPr lang="en-US" sz="8200" dirty="0"/>
          </a:p>
        </p:txBody>
      </p:sp>
      <p:sp>
        <p:nvSpPr>
          <p:cNvPr id="3" name="Text 1"/>
          <p:cNvSpPr/>
          <p:nvPr/>
        </p:nvSpPr>
        <p:spPr>
          <a:xfrm>
            <a:off x="765156" y="3581956"/>
            <a:ext cx="7638859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Sign-language image classification with deep learning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65156" y="4202509"/>
            <a:ext cx="2520689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765156" y="4553764"/>
            <a:ext cx="824844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[YOUR NAME] · [UNIVERSITY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629904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5689458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SignVision AI turns hand signs into predictions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994521"/>
            <a:ext cx="1877469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343870"/>
            <a:ext cx="568945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 computer-vision system recognizes sign-language gestures from images and returns a predicted class.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138811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4810832"/>
            <a:ext cx="269233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Focus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9585" y="5282902"/>
            <a:ext cx="2692333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Accessible, real-time sign recognition.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710" y="4138811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06710" y="4810832"/>
            <a:ext cx="269233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Core stack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3606710" y="5282902"/>
            <a:ext cx="2692333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MobileNetV2, FastAPI, and a lightweight frontend.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751821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6908627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Communication barriers make sign recognition worth solving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994521"/>
            <a:ext cx="2279692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343870"/>
            <a:ext cx="690862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When manual interpretation is unavailable, assistive vision can support faster interaction and learning.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138811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4810832"/>
            <a:ext cx="330191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Reduce friction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9585" y="5282902"/>
            <a:ext cx="330191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Clearer paths between signers and non-signers.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295" y="4138811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16295" y="4810832"/>
            <a:ext cx="3301917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Lower the barrier to experimentation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216295" y="5611019"/>
            <a:ext cx="330191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Make sign-language AI easier to explore and learn from.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10972526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The project targets focused recognition, not full language translation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867620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The system answers a narrower question: which one of 29 known classes appears in this image?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360341"/>
            <a:ext cx="3454314" cy="24803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3590846"/>
            <a:ext cx="322571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OBJECTIVE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179" y="3863431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Classify one image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8179" y="4424362"/>
            <a:ext cx="299712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Map a hand-sign image to one of 29 classes.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3360341"/>
            <a:ext cx="3454314" cy="24803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3590846"/>
            <a:ext cx="322571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SCOPE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97285" y="3863431"/>
            <a:ext cx="2997125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Image-based prediction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597285" y="4838799"/>
            <a:ext cx="299712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Run predictions through a simple web interface.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3360341"/>
            <a:ext cx="3454314" cy="248037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6391" y="3590846"/>
            <a:ext cx="322571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LIMITS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356391" y="3863431"/>
            <a:ext cx="2997125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Bounded vocabulary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356391" y="4838799"/>
            <a:ext cx="299712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Fixed classes, image-quality dependence, and no sentence-level translation.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751821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6908627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87,000 images support 29 gesture classes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402284"/>
            <a:ext cx="2279692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751634"/>
            <a:ext cx="690862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 large labeled image dataset supports supervised classification across the project’s 29-class vocabulary.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546574"/>
            <a:ext cx="3301917" cy="15190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879" y="3867503"/>
            <a:ext cx="2819329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100" dirty="0">
                <a:solidFill>
                  <a:srgbClr val="D84C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87,000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50879" y="4634667"/>
            <a:ext cx="306062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labeled images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295" y="3546574"/>
            <a:ext cx="3301917" cy="15190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57588" y="3867503"/>
            <a:ext cx="2819329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100" dirty="0">
                <a:solidFill>
                  <a:srgbClr val="D84C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29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4457588" y="4634667"/>
            <a:ext cx="306062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gesture classes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09585" y="5256113"/>
            <a:ext cx="6908627" cy="5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Used to train, validate, and test the recognition pipeline.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Dataset split details: [train / validation / test split]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10972526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The workflow moves from image input to class prediction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402284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751634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751634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3054449"/>
            <a:ext cx="1950592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212021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Collect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3684091"/>
            <a:ext cx="195069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Gather and label gesture images.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864969" y="2751634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1" name="Text 9"/>
          <p:cNvSpPr/>
          <p:nvPr/>
        </p:nvSpPr>
        <p:spPr>
          <a:xfrm>
            <a:off x="2864969" y="2751634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864969" y="3054449"/>
            <a:ext cx="1950592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13" name="Text 11"/>
          <p:cNvSpPr/>
          <p:nvPr/>
        </p:nvSpPr>
        <p:spPr>
          <a:xfrm>
            <a:off x="2864969" y="3212021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Prepare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864969" y="3684091"/>
            <a:ext cx="195069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Preprocess and resize each input.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120353" y="2751634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353" y="2751634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120353" y="3054449"/>
            <a:ext cx="1950889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353" y="3212021"/>
            <a:ext cx="195088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Train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120353" y="3684091"/>
            <a:ext cx="195088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Fit the classifier on the dataset.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375936" y="2751634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21" name="Text 19"/>
          <p:cNvSpPr/>
          <p:nvPr/>
        </p:nvSpPr>
        <p:spPr>
          <a:xfrm>
            <a:off x="7375936" y="2751634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04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75936" y="3054449"/>
            <a:ext cx="1950592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75936" y="3212021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Validate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375936" y="3684091"/>
            <a:ext cx="195069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Measure performance and export the model.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631320" y="2751634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26" name="Text 24"/>
          <p:cNvSpPr/>
          <p:nvPr/>
        </p:nvSpPr>
        <p:spPr>
          <a:xfrm>
            <a:off x="9631320" y="2751634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631320" y="3054449"/>
            <a:ext cx="1950691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28" name="Text 26"/>
          <p:cNvSpPr/>
          <p:nvPr/>
        </p:nvSpPr>
        <p:spPr>
          <a:xfrm>
            <a:off x="9631320" y="3212021"/>
            <a:ext cx="195079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Predict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631320" y="3684091"/>
            <a:ext cx="195079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Send a new image through the API.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MODEL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10972526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MobileNetV2 extracts features before classification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402284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751634"/>
            <a:ext cx="109725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The efficient convolutional backbone turns image pixels into a useful feature representation. A classification head then maps that representation to the 29 target classes.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546574"/>
            <a:ext cx="3454314" cy="212060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79" y="3916759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879" y="4478290"/>
            <a:ext cx="297172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Input image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50879" y="5039221"/>
            <a:ext cx="321302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Resized gesture image.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1" y="3546574"/>
            <a:ext cx="3454314" cy="2120602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985" y="3787874"/>
            <a:ext cx="431789" cy="4318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09985" y="4349405"/>
            <a:ext cx="297172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MobileNetV2</a:t>
            </a:r>
            <a:endParaRPr lang="en-US" sz="2400" dirty="0"/>
          </a:p>
        </p:txBody>
      </p:sp>
      <p:sp>
        <p:nvSpPr>
          <p:cNvPr id="13" name="Text 7"/>
          <p:cNvSpPr/>
          <p:nvPr/>
        </p:nvSpPr>
        <p:spPr>
          <a:xfrm>
            <a:off x="4609985" y="4910336"/>
            <a:ext cx="297172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Pretrained convolutional feature extractor.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3546574"/>
            <a:ext cx="3454314" cy="212060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9091" y="3787874"/>
            <a:ext cx="431789" cy="4318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369091" y="4349405"/>
            <a:ext cx="297172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Classification head</a:t>
            </a:r>
            <a:endParaRPr lang="en-US" sz="2400" dirty="0"/>
          </a:p>
        </p:txBody>
      </p:sp>
      <p:sp>
        <p:nvSpPr>
          <p:cNvPr id="17" name="Text 9"/>
          <p:cNvSpPr/>
          <p:nvPr/>
        </p:nvSpPr>
        <p:spPr>
          <a:xfrm>
            <a:off x="8369091" y="4910336"/>
            <a:ext cx="297172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Pooling, regularization, and final class probabilities.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609585" y="5857835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Design goal: strong accuracy with practical inference cost.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90657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600898"/>
            <a:ext cx="10972526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The system connects a simple frontend to a FastAPI inference layer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308143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430786"/>
            <a:ext cx="3454314" cy="21383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79" y="3673991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FRONTEND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0879" y="3949117"/>
            <a:ext cx="297172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Upload &amp; display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50879" y="4421188"/>
            <a:ext cx="29717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Accepts the image and sends a request; shows prediction and confidence in the interface.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3430786"/>
            <a:ext cx="3454314" cy="21383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9985" y="3673991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BACKEND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09985" y="3949117"/>
            <a:ext cx="297172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FastAPI inference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09985" y="4421188"/>
            <a:ext cx="29717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FastAPI endpoint loads the trained model for inference.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3430786"/>
            <a:ext cx="3454314" cy="21383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9091" y="3673991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MODEL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369091" y="3949117"/>
            <a:ext cx="297172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MobileNetV2 classifier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369091" y="4421188"/>
            <a:ext cx="29717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Trained model classifies the uploaded image.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10972526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The implementation keeps training and deployment modular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402284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751634"/>
            <a:ext cx="1950691" cy="2852539"/>
          </a:xfrm>
          <a:prstGeom prst="roundRect">
            <a:avLst>
              <a:gd name="adj" fmla="val 586"/>
            </a:avLst>
          </a:prstGeom>
          <a:noFill/>
          <a:ln w="25399">
            <a:solidFill>
              <a:srgbClr val="4D1D9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84" y="2777034"/>
            <a:ext cx="1899892" cy="66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2610" y="2938959"/>
            <a:ext cx="79412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850879" y="3531604"/>
            <a:ext cx="1468103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Prepare data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50879" y="4331791"/>
            <a:ext cx="1468103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Data and preprocessing scripts prepare the images.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2864969" y="2751634"/>
            <a:ext cx="1950691" cy="2852539"/>
          </a:xfrm>
          <a:prstGeom prst="roundRect">
            <a:avLst>
              <a:gd name="adj" fmla="val 586"/>
            </a:avLst>
          </a:prstGeom>
          <a:noFill/>
          <a:ln w="25399">
            <a:solidFill>
              <a:srgbClr val="4D1D9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368" y="2777034"/>
            <a:ext cx="1899892" cy="660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7994" y="2938959"/>
            <a:ext cx="79412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2</a:t>
            </a:r>
            <a:endParaRPr lang="en-US" sz="2550" dirty="0"/>
          </a:p>
        </p:txBody>
      </p:sp>
      <p:sp>
        <p:nvSpPr>
          <p:cNvPr id="13" name="Text 9"/>
          <p:cNvSpPr/>
          <p:nvPr/>
        </p:nvSpPr>
        <p:spPr>
          <a:xfrm>
            <a:off x="3106263" y="3531604"/>
            <a:ext cx="146810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Train model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106263" y="4003675"/>
            <a:ext cx="1468103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Training code builds, fine-tunes, and evaluates the model.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120353" y="2751634"/>
            <a:ext cx="1950889" cy="2852539"/>
          </a:xfrm>
          <a:prstGeom prst="roundRect">
            <a:avLst>
              <a:gd name="adj" fmla="val 586"/>
            </a:avLst>
          </a:prstGeom>
          <a:noFill/>
          <a:ln w="25399">
            <a:solidFill>
              <a:srgbClr val="4D1D9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753" y="2777034"/>
            <a:ext cx="1900091" cy="660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03477" y="2938959"/>
            <a:ext cx="79412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3</a:t>
            </a:r>
            <a:endParaRPr lang="en-US" sz="2550" dirty="0"/>
          </a:p>
        </p:txBody>
      </p:sp>
      <p:sp>
        <p:nvSpPr>
          <p:cNvPr id="18" name="Text 13"/>
          <p:cNvSpPr/>
          <p:nvPr/>
        </p:nvSpPr>
        <p:spPr>
          <a:xfrm>
            <a:off x="5361647" y="3531604"/>
            <a:ext cx="1468302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Save artifacts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5361647" y="4331791"/>
            <a:ext cx="146830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Saved model artifacts power inference.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7375936" y="2751634"/>
            <a:ext cx="1950691" cy="2852539"/>
          </a:xfrm>
          <a:prstGeom prst="roundRect">
            <a:avLst>
              <a:gd name="adj" fmla="val 586"/>
            </a:avLst>
          </a:prstGeom>
          <a:noFill/>
          <a:ln w="25399">
            <a:solidFill>
              <a:srgbClr val="4D1D9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335" y="2777034"/>
            <a:ext cx="1899892" cy="660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58961" y="2938959"/>
            <a:ext cx="79412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4</a:t>
            </a:r>
            <a:endParaRPr lang="en-US" sz="2550" dirty="0"/>
          </a:p>
        </p:txBody>
      </p:sp>
      <p:sp>
        <p:nvSpPr>
          <p:cNvPr id="23" name="Text 17"/>
          <p:cNvSpPr/>
          <p:nvPr/>
        </p:nvSpPr>
        <p:spPr>
          <a:xfrm>
            <a:off x="7617230" y="3531604"/>
            <a:ext cx="146810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Expose API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7617230" y="4003675"/>
            <a:ext cx="1468103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FastAPI service exposes prediction endpoints.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9631320" y="2751634"/>
            <a:ext cx="1950790" cy="2852539"/>
          </a:xfrm>
          <a:prstGeom prst="roundRect">
            <a:avLst>
              <a:gd name="adj" fmla="val 586"/>
            </a:avLst>
          </a:prstGeom>
          <a:noFill/>
          <a:ln w="25399">
            <a:solidFill>
              <a:srgbClr val="4D1D9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719" y="2777034"/>
            <a:ext cx="1899992" cy="6604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4444" y="2938959"/>
            <a:ext cx="79412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5</a:t>
            </a:r>
            <a:endParaRPr lang="en-US" sz="2550" dirty="0"/>
          </a:p>
        </p:txBody>
      </p:sp>
      <p:sp>
        <p:nvSpPr>
          <p:cNvPr id="28" name="Text 21"/>
          <p:cNvSpPr/>
          <p:nvPr/>
        </p:nvSpPr>
        <p:spPr>
          <a:xfrm>
            <a:off x="9872614" y="3531604"/>
            <a:ext cx="1468202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Serve results</a:t>
            </a:r>
            <a:endParaRPr lang="en-US" sz="1900" dirty="0"/>
          </a:p>
        </p:txBody>
      </p:sp>
      <p:sp>
        <p:nvSpPr>
          <p:cNvPr id="29" name="Text 22"/>
          <p:cNvSpPr/>
          <p:nvPr/>
        </p:nvSpPr>
        <p:spPr>
          <a:xfrm>
            <a:off x="9872614" y="4331791"/>
            <a:ext cx="146820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Frontend handles the user interaction.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609585" y="579483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Technologies: Python, TensorFlow/Keras, FastAPI, and frontend web tools. · GitHub repository: [GitHub Repository URL]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701786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6408280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The model reached 99.67% validation accuracy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994521"/>
            <a:ext cx="2114696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343870"/>
            <a:ext cx="6408280" cy="28481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94123" y="1568406"/>
            <a:ext cx="2887987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100" dirty="0">
                <a:solidFill>
                  <a:srgbClr val="D84C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99.67%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694123" y="2317313"/>
            <a:ext cx="2887987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Validation accuracy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94123" y="2810966"/>
            <a:ext cx="288798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The current pipeline shows strong performance on the evaluated data.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94123" y="4035028"/>
            <a:ext cx="952873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10" name="Text 7"/>
          <p:cNvSpPr/>
          <p:nvPr/>
        </p:nvSpPr>
        <p:spPr>
          <a:xfrm>
            <a:off x="8694123" y="4384377"/>
            <a:ext cx="288798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99.28%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sample prediction confidence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94123" y="5179477"/>
            <a:ext cx="349757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Reference URLs: [Reference URLs]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2026-10-30T04:50:11Z</dcterms:created>
  <dcterms:modified xsi:type="dcterms:W3CDTF">2026-10-30T04:50:11Z</dcterms:modified>
</cp:coreProperties>
</file>